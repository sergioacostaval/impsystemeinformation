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&lt;cabecera&gt;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&lt;fecha/hora&gt;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CBA7842-0CBC-4651-970F-98DEDBAE9D24}" type="slidenum"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Bonjour, aujourd’hui je vais vous présenter notre projet qui s’appelle Stocks Investhink.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C’est une application web qui permet d’analyser des actions à partir de données historiques.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projet est destiné principalement aux débutants en trading.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L’objectif est d’aider les utilisateurs à comprendre les tendances du marché.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utilise des indicateurs techniques simples pour faciliter l’analyse.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but n’est pas de prédire avec certitude, mais d’aider à prendre des décisions.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 diagramme montre l’architecture globale du projet.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peut voir les différents composants et comment ils interagissent entre eux.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Cela permet de mieux comprendre la structure de l’application.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 diagramme montre l’architecture globale du projet.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peut voir les différents composants et comment ils interagissent entre eux.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Cela permet de mieux comprendre la structure de l’application.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L’application permet d’analyser des actions,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consulter l’historique des prix,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d’utiliser des indicateurs techniques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 de générer des signaux de trading.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a utilisé l’architecture MVC, qui signifie Model, View et Controller.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Models représentent les données,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Views affichent l’interface utilisateur,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 les Controllers gèrent la logique entre les deux.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Cela permet d’avoir un code bien organisé.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Dans notre projet, on a aussi utilisé des design patterns.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Command Pattern permet d’encapsuler des actions comme des objets.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Facade Pattern permet de simplifier l’accès à des opérations complexes.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Cela rend le code plus structuré et plus facile à maintenir.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base de données contient plusieurs tables comme Stock, HistoricalPrice et Signal.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utilise Entity Framework pour gérer les données.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migrations permettent de mettre à jour la base facilement.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base de données contient plusieurs tables comme Stock, HistoricalPrice et Signal.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utilise Entity Framework pour gérer les données.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migrations permettent de mettre à jour la base facilement.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conclusion, c’est un projet complet qui nous a permis de pratiquer le développement web.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a appris à structurer une application avec MVC,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à gérer une base de données,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 à utiliser des design patterns.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Il est possible d’améliorer le projet en ajoutant plus de fonctionnalités.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Merci pour votre attention.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Est-ce que vous avez des questions ?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600" cy="56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600" cy="80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9FD47E4-1483-4852-BE91-5DDE637551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600" cy="146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86701C-DEE0-4785-A84A-E5863A4378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7800" cy="397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800" cy="452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420B014-AB04-40C7-A805-0895B43725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600" cy="584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120" cy="584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E2D9583-3EF7-4B0A-93C9-531DB26C9E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800" cy="452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C1D8FE4-60FE-4DD9-A91F-268963CA5A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600" cy="136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600" cy="149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EA1B9C2-3869-48CE-881F-56A3290F5A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6680" cy="452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6680" cy="452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382BDD8-5AAE-4130-A86F-51104BC410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480" cy="63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480" cy="394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9920" cy="63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9920" cy="394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B627819-A873-483D-8C86-5FB5400768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AE06B53-DBD6-47C7-B8CE-7E7DF8CBFD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07219D2-EDDF-4618-861C-520009784A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360" cy="116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9840" cy="585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360" cy="468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F41A68-9A94-4F16-AE1E-EB3D1D70DA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>
            <a:fillRect l="-10992" r="-10992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600" cy="146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6000" b="0" u="none" strike="noStrike">
                <a:solidFill>
                  <a:srgbClr val="FFFF00"/>
                </a:solidFill>
                <a:effectLst/>
                <a:uFillTx/>
                <a:latin typeface="Calibri"/>
                <a:ea typeface="Calibri"/>
              </a:rPr>
              <a:t>Stocks Investhink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399000" cy="175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Sergio Acosta </a:t>
            </a:r>
            <a:endParaRPr lang="es-CO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Seydina Mouhammad Sylla</a:t>
            </a:r>
            <a:endParaRPr lang="es-CO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Chatib Ismail</a:t>
            </a:r>
            <a:endParaRPr lang="es-CO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573520" y="180000"/>
            <a:ext cx="2525040" cy="51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85000" lnSpcReduction="9999"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3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Introduction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Picture 4" descr="Orange and blue numbers and graphs"/>
          <p:cNvPicPr/>
          <p:nvPr/>
        </p:nvPicPr>
        <p:blipFill>
          <a:blip r:embed="rId1"/>
          <a:srcRect l="20522" t="0" r="29976" b="0"/>
          <a:stretch/>
        </p:blipFill>
        <p:spPr>
          <a:xfrm>
            <a:off x="0" y="0"/>
            <a:ext cx="431856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1957680" y="3269520"/>
            <a:ext cx="1629000" cy="5540760"/>
          </a:xfrm>
          <a:prstGeom prst="rect">
            <a:avLst/>
          </a:prstGeom>
          <a:gradFill rotWithShape="0">
            <a:gsLst>
              <a:gs pos="0">
                <a:srgbClr val="4BACC6"/>
              </a:gs>
              <a:gs pos="47000">
                <a:srgbClr val="C0504D">
                  <a:alpha val="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flipV="1" rot="5400000">
            <a:off x="-2296440" y="2293920"/>
            <a:ext cx="6852600" cy="2260440"/>
          </a:xfrm>
          <a:prstGeom prst="rect">
            <a:avLst/>
          </a:prstGeom>
          <a:gradFill rotWithShape="0">
            <a:gsLst>
              <a:gs pos="0">
                <a:srgbClr val="4BACC6"/>
              </a:gs>
              <a:gs pos="47000">
                <a:srgbClr val="C0504D">
                  <a:alpha val="0"/>
                </a:srgbClr>
              </a:gs>
            </a:gsLst>
            <a:lin ang="2040000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348000" y="4426920"/>
            <a:ext cx="2194560" cy="2431080"/>
          </a:xfrm>
          <a:prstGeom prst="rect">
            <a:avLst/>
          </a:prstGeom>
          <a:gradFill rotWithShape="0">
            <a:gsLst>
              <a:gs pos="0">
                <a:srgbClr val="C0504D"/>
              </a:gs>
              <a:gs pos="51000">
                <a:srgbClr val="93CDDD">
                  <a:alpha val="0"/>
                </a:srgbClr>
              </a:gs>
            </a:gsLst>
            <a:path path="circle">
              <a:fillToRect l="0" t="0" r="100000" b="100000"/>
            </a:path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00000" y="720000"/>
            <a:ext cx="4498560" cy="593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Application web ASP.NET Core MVC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Concevoir et développer un App qui permet d’analyser des données historiques des Stocks de manière simple.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Realisée en suivant ce qu'on a apris pendant le cours d'Implémentation d'un Sysème d'Information: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SDLC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Agile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POO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Organisation structurée du code et séparation des responsabilités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Principes de Conception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Patrons de conception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Tests Unitaires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0" y="184320"/>
            <a:ext cx="3367080" cy="71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3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Objectif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5" name="Picture 4" descr="A wall painted with an arrow and a dartboard"/>
          <p:cNvPicPr/>
          <p:nvPr/>
        </p:nvPicPr>
        <p:blipFill>
          <a:blip r:embed="rId1"/>
          <a:srcRect l="52334" t="0" r="0" b="0"/>
          <a:stretch/>
        </p:blipFill>
        <p:spPr>
          <a:xfrm>
            <a:off x="0" y="0"/>
            <a:ext cx="4570200" cy="68562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6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90720" cy="6856200"/>
            <a:chOff x="0" y="0"/>
            <a:chExt cx="90720" cy="6856200"/>
          </a:xfrm>
        </p:grpSpPr>
        <p:sp>
          <p:nvSpPr>
            <p:cNvPr id="77" name="Rectangle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90720" cy="6856200"/>
            </a:xfrm>
            <a:prstGeom prst="rect">
              <a:avLst/>
            </a:prstGeom>
            <a:gradFill rotWithShape="0">
              <a:gsLst>
                <a:gs pos="0">
                  <a:srgbClr val="C0504D"/>
                </a:gs>
                <a:gs pos="100000">
                  <a:srgbClr val="4BACC6"/>
                </a:gs>
              </a:gsLst>
              <a:lin ang="18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45360" tIns="45000" rIns="4536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8" name="Rectangle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4139640"/>
              <a:ext cx="90720" cy="2716560"/>
            </a:xfrm>
            <a:prstGeom prst="rect">
              <a:avLst/>
            </a:prstGeom>
            <a:gradFill rotWithShape="0">
              <a:gsLst>
                <a:gs pos="19000">
                  <a:srgbClr val="4BACC6">
                    <a:alpha val="0"/>
                  </a:srgbClr>
                </a:gs>
                <a:gs pos="100000">
                  <a:srgbClr val="93CDDD"/>
                </a:gs>
              </a:gsLst>
              <a:lin ang="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45360" tIns="45000" rIns="4536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680000" y="1080000"/>
            <a:ext cx="4138560" cy="557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Permettre à un utilisateur connecté d’importer un fichier CSV avec des prix historiques d’un Stock 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Calculer des indicateurs techniques comme le SMA, EMA et RSI 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Générer des signaux éducatifs pour illustrer des situations potentielles d’achat ou de vente (pas des conseils d'achat ou de vente)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1600"/>
            <a:ext cx="9142200" cy="734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17240" y="643320"/>
            <a:ext cx="8406360" cy="74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Diagramme Cas d’utilisation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2" name=""/>
          <p:cNvPicPr/>
          <p:nvPr/>
        </p:nvPicPr>
        <p:blipFill>
          <a:blip r:embed="rId1"/>
          <a:stretch/>
        </p:blipFill>
        <p:spPr>
          <a:xfrm>
            <a:off x="1800000" y="1643400"/>
            <a:ext cx="5398560" cy="4475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1600"/>
            <a:ext cx="9142200" cy="734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17240" y="643320"/>
            <a:ext cx="8406360" cy="74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Diagramme de Classes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0" y="1891800"/>
            <a:ext cx="9142200" cy="3866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Slide Backgrou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200" cy="685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87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390000" cy="2284200"/>
          </a:xfrm>
          <a:prstGeom prst="rect">
            <a:avLst/>
          </a:prstGeom>
          <a:ln>
            <a:noFill/>
          </a:ln>
          <a:effectLst>
            <a:outerShdw algn="t" blurRad="596880" dir="7139329" dist="304556" rotWithShape="0" sx="90000" sy="9000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540000" y="170280"/>
            <a:ext cx="3483360" cy="90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3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Fonctionnalités</a:t>
            </a:r>
            <a:endParaRPr lang="en-US" sz="35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180000" y="900000"/>
            <a:ext cx="3874680" cy="545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 **FR-1 :** Le système doit permettre d’obtenir des données historiques de prix d’actions à partir d’une source locale (.CSV).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 **FR-2 :** Le système doit analyser l’évolution des prix des actions dans le temps.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-**FR-3 :** Le système doit calculer des indicateurs techniques simples (SMA, EMA et RSI). 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 **FR-4 :** Le système doit générer des signaux indicatifs basés sur l’analyse technique, afin d’illustrer des situations potentielles d’achat ou de vente.  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0" name="Picture 4" descr="Magnifying glass showing decling performance"/>
          <p:cNvPicPr/>
          <p:nvPr/>
        </p:nvPicPr>
        <p:blipFill>
          <a:blip r:embed="rId1"/>
          <a:srcRect l="21166" t="0" r="34285" b="-3"/>
          <a:stretch/>
        </p:blipFill>
        <p:spPr>
          <a:xfrm>
            <a:off x="4572000" y="0"/>
            <a:ext cx="457524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Flowchart: Document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8800" y="0"/>
            <a:ext cx="1500120" cy="1978920"/>
          </a:xfrm>
          <a:prstGeom prst="flowChartDocument">
            <a:avLst/>
          </a:prstGeom>
          <a:solidFill>
            <a:srgbClr val="4D59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18800" y="0"/>
            <a:ext cx="2128320" cy="162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Architecture MVC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PlaceHolder 4"/>
          <p:cNvSpPr/>
          <p:nvPr/>
        </p:nvSpPr>
        <p:spPr>
          <a:xfrm>
            <a:off x="1830600" y="180000"/>
            <a:ext cx="6268320" cy="10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Diagramme d’Activités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"/>
          <p:cNvPicPr/>
          <p:nvPr/>
        </p:nvPicPr>
        <p:blipFill>
          <a:blip r:embed="rId1"/>
          <a:stretch/>
        </p:blipFill>
        <p:spPr>
          <a:xfrm>
            <a:off x="720000" y="1080000"/>
            <a:ext cx="8314560" cy="5667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Flowchart: Document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8800" y="0"/>
            <a:ext cx="2434320" cy="3398760"/>
          </a:xfrm>
          <a:prstGeom prst="flowChartDocument">
            <a:avLst/>
          </a:prstGeom>
          <a:solidFill>
            <a:srgbClr val="428A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28560" y="171000"/>
            <a:ext cx="2128320" cy="23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Patrons de Conception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7" name="Imagen 5" descr="Texto&#10;&#10;El contenido generado por IA puede ser incorrecto."/>
          <p:cNvPicPr/>
          <p:nvPr/>
        </p:nvPicPr>
        <p:blipFill>
          <a:blip r:embed="rId1"/>
          <a:stretch/>
        </p:blipFill>
        <p:spPr>
          <a:xfrm>
            <a:off x="3645000" y="640080"/>
            <a:ext cx="4530960" cy="557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1600"/>
            <a:ext cx="9142200" cy="734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17240" y="643320"/>
            <a:ext cx="8406360" cy="74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Base de données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0" name="Imagen 6" descr="Tabla&#10;&#10;El contenido generado por IA puede ser incorrecto."/>
          <p:cNvPicPr/>
          <p:nvPr/>
        </p:nvPicPr>
        <p:blipFill>
          <a:blip r:embed="rId1"/>
          <a:stretch/>
        </p:blipFill>
        <p:spPr>
          <a:xfrm>
            <a:off x="236880" y="1857960"/>
            <a:ext cx="8607240" cy="401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1600"/>
            <a:ext cx="9142200" cy="734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17240" y="643320"/>
            <a:ext cx="8406360" cy="74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Tests Unitaires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3" name=""/>
          <p:cNvPicPr/>
          <p:nvPr/>
        </p:nvPicPr>
        <p:blipFill>
          <a:blip r:embed="rId1"/>
          <a:stretch/>
        </p:blipFill>
        <p:spPr>
          <a:xfrm rot="21578400">
            <a:off x="1093680" y="2000880"/>
            <a:ext cx="6681960" cy="445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200" cy="685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999280" cy="6856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13040" y="82800"/>
            <a:ext cx="9246240" cy="693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br>
              <a:rPr sz="3700"/>
            </a:br>
            <a:br>
              <a:rPr sz="3700"/>
            </a:br>
            <a:r>
              <a:rPr lang="en-CA" sz="37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Démonstration fonctionnelle </a:t>
            </a:r>
            <a:endParaRPr lang="en-US" sz="3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pSp>
        <p:nvGrpSpPr>
          <p:cNvPr id="107" name="Graphic 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203040"/>
            <a:ext cx="1431000" cy="707760"/>
            <a:chOff x="0" y="203040"/>
            <a:chExt cx="1431000" cy="707760"/>
          </a:xfrm>
        </p:grpSpPr>
        <p:sp>
          <p:nvSpPr>
            <p:cNvPr id="108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203040"/>
              <a:ext cx="1431000" cy="272880"/>
            </a:xfrm>
            <a:custGeom>
              <a:avLst/>
              <a:gdLst>
                <a:gd name="textAreaLeft" fmla="*/ 0 w 1431000"/>
                <a:gd name="textAreaRight" fmla="*/ 1432800 w 1431000"/>
                <a:gd name="textAreaTop" fmla="*/ 0 h 272880"/>
                <a:gd name="textAreaBottom" fmla="*/ 274680 h 272880"/>
                <a:gd name="GluePoint1X" fmla="*/ 1489414 w 1990951"/>
                <a:gd name="GluePoint1Y" fmla="*/ 286231 h 286230"/>
                <a:gd name="GluePoint2X" fmla="*/ 1243712 w 1990951"/>
                <a:gd name="GluePoint2Y" fmla="*/ 40528 h 286230"/>
                <a:gd name="GluePoint3X" fmla="*/ 995476 w 1990951"/>
                <a:gd name="GluePoint3Y" fmla="*/ 286231 h 286230"/>
                <a:gd name="GluePoint4X" fmla="*/ 749773 w 1990951"/>
                <a:gd name="GluePoint4Y" fmla="*/ 40528 h 286230"/>
                <a:gd name="GluePoint5X" fmla="*/ 504071 w 1990951"/>
                <a:gd name="GluePoint5Y" fmla="*/ 286231 h 286230"/>
                <a:gd name="GluePoint6X" fmla="*/ 255835 w 1990951"/>
                <a:gd name="GluePoint6Y" fmla="*/ 40528 h 286230"/>
                <a:gd name="GluePoint7X" fmla="*/ 20264 w 1990951"/>
                <a:gd name="GluePoint7Y" fmla="*/ 276099 h 286230"/>
                <a:gd name="GluePoint8X" fmla="*/ 0 w 1990951"/>
                <a:gd name="GluePoint8Y" fmla="*/ 255835 h 286230"/>
                <a:gd name="GluePoint9X" fmla="*/ 255835 w 1990951"/>
                <a:gd name="GluePoint9Y" fmla="*/ 0 h 286230"/>
                <a:gd name="GluePoint10X" fmla="*/ 504071 w 1990951"/>
                <a:gd name="GluePoint10Y" fmla="*/ 245703 h 286230"/>
                <a:gd name="GluePoint11X" fmla="*/ 749773 w 1990951"/>
                <a:gd name="GluePoint11Y" fmla="*/ 0 h 286230"/>
                <a:gd name="GluePoint12X" fmla="*/ 995476 w 1990951"/>
                <a:gd name="GluePoint12Y" fmla="*/ 245703 h 286230"/>
                <a:gd name="GluePoint13X" fmla="*/ 1243712 w 1990951"/>
                <a:gd name="GluePoint13Y" fmla="*/ 0 h 286230"/>
                <a:gd name="GluePoint14X" fmla="*/ 1489414 w 1990951"/>
                <a:gd name="GluePoint14Y" fmla="*/ 245703 h 286230"/>
                <a:gd name="GluePoint15X" fmla="*/ 1735117 w 1990951"/>
                <a:gd name="GluePoint15Y" fmla="*/ 0 h 286230"/>
                <a:gd name="GluePoint16X" fmla="*/ 1990952 w 1990951"/>
                <a:gd name="GluePoint16Y" fmla="*/ 255835 h 286230"/>
                <a:gd name="GluePoint17X" fmla="*/ 1973221 w 1990951"/>
                <a:gd name="GluePoint17Y" fmla="*/ 276099 h 286230"/>
                <a:gd name="GluePoint18X" fmla="*/ 1735117 w 1990951"/>
                <a:gd name="GluePoint18Y" fmla="*/ 40528 h 2862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solidFill>
              <a:schemeClr val="bg1"/>
            </a:solidFill>
            <a:ln w="2532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09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637920"/>
              <a:ext cx="1431000" cy="272880"/>
            </a:xfrm>
            <a:custGeom>
              <a:avLst/>
              <a:gdLst>
                <a:gd name="textAreaLeft" fmla="*/ 0 w 1431000"/>
                <a:gd name="textAreaRight" fmla="*/ 1432800 w 1431000"/>
                <a:gd name="textAreaTop" fmla="*/ 0 h 272880"/>
                <a:gd name="textAreaBottom" fmla="*/ 274680 h 272880"/>
                <a:gd name="GluePoint1X" fmla="*/ 1489414 w 1990951"/>
                <a:gd name="GluePoint1Y" fmla="*/ 286231 h 286230"/>
                <a:gd name="GluePoint2X" fmla="*/ 1243712 w 1990951"/>
                <a:gd name="GluePoint2Y" fmla="*/ 40528 h 286230"/>
                <a:gd name="GluePoint3X" fmla="*/ 995476 w 1990951"/>
                <a:gd name="GluePoint3Y" fmla="*/ 286231 h 286230"/>
                <a:gd name="GluePoint4X" fmla="*/ 749773 w 1990951"/>
                <a:gd name="GluePoint4Y" fmla="*/ 40528 h 286230"/>
                <a:gd name="GluePoint5X" fmla="*/ 504071 w 1990951"/>
                <a:gd name="GluePoint5Y" fmla="*/ 286231 h 286230"/>
                <a:gd name="GluePoint6X" fmla="*/ 255835 w 1990951"/>
                <a:gd name="GluePoint6Y" fmla="*/ 40528 h 286230"/>
                <a:gd name="GluePoint7X" fmla="*/ 20264 w 1990951"/>
                <a:gd name="GluePoint7Y" fmla="*/ 276099 h 286230"/>
                <a:gd name="GluePoint8X" fmla="*/ 0 w 1990951"/>
                <a:gd name="GluePoint8Y" fmla="*/ 258368 h 286230"/>
                <a:gd name="GluePoint9X" fmla="*/ 255835 w 1990951"/>
                <a:gd name="GluePoint9Y" fmla="*/ 0 h 286230"/>
                <a:gd name="GluePoint10X" fmla="*/ 504071 w 1990951"/>
                <a:gd name="GluePoint10Y" fmla="*/ 248236 h 286230"/>
                <a:gd name="GluePoint11X" fmla="*/ 749773 w 1990951"/>
                <a:gd name="GluePoint11Y" fmla="*/ 0 h 286230"/>
                <a:gd name="GluePoint12X" fmla="*/ 995476 w 1990951"/>
                <a:gd name="GluePoint12Y" fmla="*/ 248236 h 286230"/>
                <a:gd name="GluePoint13X" fmla="*/ 1243712 w 1990951"/>
                <a:gd name="GluePoint13Y" fmla="*/ 0 h 286230"/>
                <a:gd name="GluePoint14X" fmla="*/ 1489414 w 1990951"/>
                <a:gd name="GluePoint14Y" fmla="*/ 248236 h 286230"/>
                <a:gd name="GluePoint15X" fmla="*/ 1735117 w 1990951"/>
                <a:gd name="GluePoint15Y" fmla="*/ 0 h 286230"/>
                <a:gd name="GluePoint16X" fmla="*/ 1990952 w 1990951"/>
                <a:gd name="GluePoint16Y" fmla="*/ 258368 h 286230"/>
                <a:gd name="GluePoint17X" fmla="*/ 1973221 w 1990951"/>
                <a:gd name="GluePoint17Y" fmla="*/ 276099 h 286230"/>
                <a:gd name="GluePoint18X" fmla="*/ 1735117 w 1990951"/>
                <a:gd name="GluePoint18Y" fmla="*/ 40528 h 2862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solidFill>
              <a:schemeClr val="bg1"/>
            </a:solidFill>
            <a:ln w="2532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10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4560" y="4752360"/>
            <a:ext cx="271800" cy="3632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Oval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4560" y="4752360"/>
            <a:ext cx="271800" cy="363240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12" name="Graphic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082320" y="5540040"/>
            <a:ext cx="729360" cy="973440"/>
            <a:chOff x="3082320" y="5540040"/>
            <a:chExt cx="729360" cy="973440"/>
          </a:xfrm>
        </p:grpSpPr>
        <p:sp>
          <p:nvSpPr>
            <p:cNvPr id="113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23360" y="5594760"/>
              <a:ext cx="153360" cy="205200"/>
            </a:xfrm>
            <a:custGeom>
              <a:avLst/>
              <a:gdLst>
                <a:gd name="textAreaLeft" fmla="*/ 0 w 153360"/>
                <a:gd name="textAreaRight" fmla="*/ 155160 w 153360"/>
                <a:gd name="textAreaTop" fmla="*/ 0 h 205200"/>
                <a:gd name="textAreaBottom" fmla="*/ 207000 h 205200"/>
                <a:gd name="GluePoint1X" fmla="*/ 112967 w 112966"/>
                <a:gd name="GluePoint1Y" fmla="*/ 0 h 112966"/>
                <a:gd name="GluePoint2X" fmla="*/ 0 w 112966"/>
                <a:gd name="GluePoint2Y" fmla="*/ 112967 h 112966"/>
                <a:gd name="GluePoint3X" fmla="*/ 112967 w 112966"/>
                <a:gd name="GluePoint3Y" fmla="*/ 0 h 1129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6680" tIns="45000" rIns="7668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4" name="Freeform: Shape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84840" y="5543280"/>
              <a:ext cx="314640" cy="420120"/>
            </a:xfrm>
            <a:custGeom>
              <a:avLst/>
              <a:gdLst>
                <a:gd name="textAreaLeft" fmla="*/ 0 w 314640"/>
                <a:gd name="textAreaRight" fmla="*/ 316440 w 314640"/>
                <a:gd name="textAreaTop" fmla="*/ 0 h 420120"/>
                <a:gd name="textAreaBottom" fmla="*/ 421920 h 420120"/>
                <a:gd name="GluePoint1X" fmla="*/ 230314 w 230314"/>
                <a:gd name="GluePoint1Y" fmla="*/ 0 h 230314"/>
                <a:gd name="GluePoint2X" fmla="*/ 0 w 230314"/>
                <a:gd name="GluePoint2Y" fmla="*/ 230314 h 230314"/>
                <a:gd name="GluePoint3X" fmla="*/ 3524 w 230314"/>
                <a:gd name="GluePoint3Y" fmla="*/ 209550 h 230314"/>
                <a:gd name="GluePoint4X" fmla="*/ 209550 w 230314"/>
                <a:gd name="GluePoint4Y" fmla="*/ 3524 h 230314"/>
                <a:gd name="GluePoint5X" fmla="*/ 230314 w 230314"/>
                <a:gd name="GluePoint5Y" fmla="*/ 0 h 23031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5" name="Freeform: Shape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82320" y="5540040"/>
              <a:ext cx="402480" cy="537120"/>
            </a:xfrm>
            <a:custGeom>
              <a:avLst/>
              <a:gdLst>
                <a:gd name="textAreaLeft" fmla="*/ 0 w 402480"/>
                <a:gd name="textAreaRight" fmla="*/ 404280 w 402480"/>
                <a:gd name="textAreaTop" fmla="*/ 0 h 537120"/>
                <a:gd name="textAreaBottom" fmla="*/ 538920 h 537120"/>
                <a:gd name="GluePoint1X" fmla="*/ 294132 w 294131"/>
                <a:gd name="GluePoint1Y" fmla="*/ 1238 h 294131"/>
                <a:gd name="GluePoint2X" fmla="*/ 1238 w 294131"/>
                <a:gd name="GluePoint2Y" fmla="*/ 294132 h 294131"/>
                <a:gd name="GluePoint3X" fmla="*/ 0 w 294131"/>
                <a:gd name="GluePoint3Y" fmla="*/ 278225 h 294131"/>
                <a:gd name="GluePoint4X" fmla="*/ 278225 w 294131"/>
                <a:gd name="GluePoint4Y" fmla="*/ 0 h 294131"/>
                <a:gd name="GluePoint5X" fmla="*/ 294132 w 294131"/>
                <a:gd name="GluePoint5Y" fmla="*/ 1238 h 2941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6" name="Freeform: Shape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93120" y="5554080"/>
              <a:ext cx="461520" cy="616320"/>
            </a:xfrm>
            <a:custGeom>
              <a:avLst/>
              <a:gdLst>
                <a:gd name="textAreaLeft" fmla="*/ 0 w 461520"/>
                <a:gd name="textAreaRight" fmla="*/ 463320 w 461520"/>
                <a:gd name="textAreaTop" fmla="*/ 0 h 616320"/>
                <a:gd name="textAreaBottom" fmla="*/ 618120 h 616320"/>
                <a:gd name="GluePoint1X" fmla="*/ 337185 w 337184"/>
                <a:gd name="GluePoint1Y" fmla="*/ 3905 h 337280"/>
                <a:gd name="GluePoint2X" fmla="*/ 3810 w 337184"/>
                <a:gd name="GluePoint2Y" fmla="*/ 337280 h 337280"/>
                <a:gd name="GluePoint3X" fmla="*/ 0 w 337184"/>
                <a:gd name="GluePoint3Y" fmla="*/ 323850 h 337280"/>
                <a:gd name="GluePoint4X" fmla="*/ 323850 w 337184"/>
                <a:gd name="GluePoint4Y" fmla="*/ 0 h 337280"/>
                <a:gd name="GluePoint5X" fmla="*/ 337185 w 337184"/>
                <a:gd name="GluePoint5Y" fmla="*/ 3905 h 3372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7" name="Freeform: Shap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15080" y="5583600"/>
              <a:ext cx="499320" cy="666360"/>
            </a:xfrm>
            <a:custGeom>
              <a:avLst/>
              <a:gdLst>
                <a:gd name="textAreaLeft" fmla="*/ 0 w 499320"/>
                <a:gd name="textAreaRight" fmla="*/ 501120 w 499320"/>
                <a:gd name="textAreaTop" fmla="*/ 0 h 666360"/>
                <a:gd name="textAreaBottom" fmla="*/ 668160 h 666360"/>
                <a:gd name="GluePoint1X" fmla="*/ 364617 w 364617"/>
                <a:gd name="GluePoint1Y" fmla="*/ 5620 h 364617"/>
                <a:gd name="GluePoint2X" fmla="*/ 5620 w 364617"/>
                <a:gd name="GluePoint2Y" fmla="*/ 364617 h 364617"/>
                <a:gd name="GluePoint3X" fmla="*/ 0 w 364617"/>
                <a:gd name="GluePoint3Y" fmla="*/ 353187 h 364617"/>
                <a:gd name="GluePoint4X" fmla="*/ 353187 w 364617"/>
                <a:gd name="GluePoint4Y" fmla="*/ 0 h 364617"/>
                <a:gd name="GluePoint5X" fmla="*/ 364617 w 364617"/>
                <a:gd name="GluePoint5Y" fmla="*/ 5620 h 3646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8" name="Freeform: Shape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45320" y="5624280"/>
              <a:ext cx="520560" cy="694800"/>
            </a:xfrm>
            <a:custGeom>
              <a:avLst/>
              <a:gdLst>
                <a:gd name="textAreaLeft" fmla="*/ 0 w 520560"/>
                <a:gd name="textAreaRight" fmla="*/ 522360 w 520560"/>
                <a:gd name="textAreaTop" fmla="*/ 0 h 694800"/>
                <a:gd name="textAreaBottom" fmla="*/ 696600 h 694800"/>
                <a:gd name="GluePoint1X" fmla="*/ 380238 w 380238"/>
                <a:gd name="GluePoint1Y" fmla="*/ 7239 h 380238"/>
                <a:gd name="GluePoint2X" fmla="*/ 7239 w 380238"/>
                <a:gd name="GluePoint2Y" fmla="*/ 380238 h 380238"/>
                <a:gd name="GluePoint3X" fmla="*/ 0 w 380238"/>
                <a:gd name="GluePoint3Y" fmla="*/ 370713 h 380238"/>
                <a:gd name="GluePoint4X" fmla="*/ 370237 w 380238"/>
                <a:gd name="GluePoint4Y" fmla="*/ 0 h 380238"/>
                <a:gd name="GluePoint5X" fmla="*/ 380238 w 380238"/>
                <a:gd name="GluePoint5Y" fmla="*/ 7239 h 38023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9" name="Freeform: Shape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83120" y="5674680"/>
              <a:ext cx="527400" cy="703800"/>
            </a:xfrm>
            <a:custGeom>
              <a:avLst/>
              <a:gdLst>
                <a:gd name="textAreaLeft" fmla="*/ 0 w 527400"/>
                <a:gd name="textAreaRight" fmla="*/ 529200 w 527400"/>
                <a:gd name="textAreaTop" fmla="*/ 0 h 703800"/>
                <a:gd name="textAreaBottom" fmla="*/ 705600 h 703800"/>
                <a:gd name="GluePoint1X" fmla="*/ 380905 w 385191"/>
                <a:gd name="GluePoint1Y" fmla="*/ 4286 h 385191"/>
                <a:gd name="GluePoint2X" fmla="*/ 385191 w 385191"/>
                <a:gd name="GluePoint2Y" fmla="*/ 8573 h 385191"/>
                <a:gd name="GluePoint3X" fmla="*/ 8573 w 385191"/>
                <a:gd name="GluePoint3Y" fmla="*/ 385191 h 385191"/>
                <a:gd name="GluePoint4X" fmla="*/ 4286 w 385191"/>
                <a:gd name="GluePoint4Y" fmla="*/ 380905 h 385191"/>
                <a:gd name="GluePoint5X" fmla="*/ 0 w 385191"/>
                <a:gd name="GluePoint5Y" fmla="*/ 376523 h 385191"/>
                <a:gd name="GluePoint6X" fmla="*/ 376523 w 385191"/>
                <a:gd name="GluePoint6Y" fmla="*/ 0 h 385191"/>
                <a:gd name="GluePoint7X" fmla="*/ 380905 w 385191"/>
                <a:gd name="GluePoint7Y" fmla="*/ 4286 h 38519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0" name="Freeform: Shape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28480" y="5734080"/>
              <a:ext cx="520200" cy="694800"/>
            </a:xfrm>
            <a:custGeom>
              <a:avLst/>
              <a:gdLst>
                <a:gd name="textAreaLeft" fmla="*/ 0 w 520200"/>
                <a:gd name="textAreaRight" fmla="*/ 522000 w 520200"/>
                <a:gd name="textAreaTop" fmla="*/ 0 h 694800"/>
                <a:gd name="textAreaBottom" fmla="*/ 696600 h 694800"/>
                <a:gd name="GluePoint1X" fmla="*/ 372428 w 379761"/>
                <a:gd name="GluePoint1Y" fmla="*/ 0 h 380237"/>
                <a:gd name="GluePoint2X" fmla="*/ 379762 w 379761"/>
                <a:gd name="GluePoint2Y" fmla="*/ 9525 h 380237"/>
                <a:gd name="GluePoint3X" fmla="*/ 9525 w 379761"/>
                <a:gd name="GluePoint3Y" fmla="*/ 380238 h 380237"/>
                <a:gd name="GluePoint4X" fmla="*/ 0 w 379761"/>
                <a:gd name="GluePoint4Y" fmla="*/ 372904 h 38023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1" name="Freeform: Shape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79600" y="5802840"/>
              <a:ext cx="499320" cy="666720"/>
            </a:xfrm>
            <a:custGeom>
              <a:avLst/>
              <a:gdLst>
                <a:gd name="textAreaLeft" fmla="*/ 0 w 499320"/>
                <a:gd name="textAreaRight" fmla="*/ 501120 w 499320"/>
                <a:gd name="textAreaTop" fmla="*/ 0 h 666720"/>
                <a:gd name="textAreaBottom" fmla="*/ 668520 h 666720"/>
                <a:gd name="GluePoint1X" fmla="*/ 359188 w 364807"/>
                <a:gd name="GluePoint1Y" fmla="*/ 0 h 364807"/>
                <a:gd name="GluePoint2X" fmla="*/ 364808 w 364807"/>
                <a:gd name="GluePoint2Y" fmla="*/ 11621 h 364807"/>
                <a:gd name="GluePoint3X" fmla="*/ 11621 w 364807"/>
                <a:gd name="GluePoint3Y" fmla="*/ 364808 h 364807"/>
                <a:gd name="GluePoint4X" fmla="*/ 0 w 364807"/>
                <a:gd name="GluePoint4Y" fmla="*/ 359188 h 3648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2" name="Freeform: Shape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39360" y="5882760"/>
              <a:ext cx="461520" cy="616320"/>
            </a:xfrm>
            <a:custGeom>
              <a:avLst/>
              <a:gdLst>
                <a:gd name="textAreaLeft" fmla="*/ 0 w 461520"/>
                <a:gd name="textAreaRight" fmla="*/ 463320 w 461520"/>
                <a:gd name="textAreaTop" fmla="*/ 0 h 616320"/>
                <a:gd name="textAreaBottom" fmla="*/ 618120 h 616320"/>
                <a:gd name="GluePoint1X" fmla="*/ 333470 w 337280"/>
                <a:gd name="GluePoint1Y" fmla="*/ 0 h 337280"/>
                <a:gd name="GluePoint2X" fmla="*/ 337280 w 337280"/>
                <a:gd name="GluePoint2Y" fmla="*/ 13430 h 337280"/>
                <a:gd name="GluePoint3X" fmla="*/ 13430 w 337280"/>
                <a:gd name="GluePoint3Y" fmla="*/ 337280 h 337280"/>
                <a:gd name="GluePoint4X" fmla="*/ 0 w 337280"/>
                <a:gd name="GluePoint4Y" fmla="*/ 333470 h 3372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3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409200" y="5976360"/>
              <a:ext cx="402480" cy="537120"/>
            </a:xfrm>
            <a:custGeom>
              <a:avLst/>
              <a:gdLst>
                <a:gd name="textAreaLeft" fmla="*/ 0 w 402480"/>
                <a:gd name="textAreaRight" fmla="*/ 404280 w 402480"/>
                <a:gd name="textAreaTop" fmla="*/ 0 h 537120"/>
                <a:gd name="textAreaBottom" fmla="*/ 538920 h 537120"/>
                <a:gd name="GluePoint1X" fmla="*/ 292989 w 294227"/>
                <a:gd name="GluePoint1Y" fmla="*/ 0 h 294132"/>
                <a:gd name="GluePoint2X" fmla="*/ 294227 w 294227"/>
                <a:gd name="GluePoint2Y" fmla="*/ 15907 h 294132"/>
                <a:gd name="GluePoint3X" fmla="*/ 15907 w 294227"/>
                <a:gd name="GluePoint3Y" fmla="*/ 294132 h 294132"/>
                <a:gd name="GluePoint4X" fmla="*/ 0 w 294227"/>
                <a:gd name="GluePoint4Y" fmla="*/ 292894 h 2941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4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494520" y="6089760"/>
              <a:ext cx="314640" cy="420120"/>
            </a:xfrm>
            <a:custGeom>
              <a:avLst/>
              <a:gdLst>
                <a:gd name="textAreaLeft" fmla="*/ 0 w 314640"/>
                <a:gd name="textAreaRight" fmla="*/ 316440 w 314640"/>
                <a:gd name="textAreaTop" fmla="*/ 0 h 420120"/>
                <a:gd name="textAreaBottom" fmla="*/ 421920 h 420120"/>
                <a:gd name="GluePoint1X" fmla="*/ 230315 w 230314"/>
                <a:gd name="GluePoint1Y" fmla="*/ 0 h 230314"/>
                <a:gd name="GluePoint2X" fmla="*/ 226886 w 230314"/>
                <a:gd name="GluePoint2Y" fmla="*/ 20574 h 230314"/>
                <a:gd name="GluePoint3X" fmla="*/ 20669 w 230314"/>
                <a:gd name="GluePoint3Y" fmla="*/ 226790 h 230314"/>
                <a:gd name="GluePoint4X" fmla="*/ 0 w 230314"/>
                <a:gd name="GluePoint4Y" fmla="*/ 230315 h 23031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5" name="Freeform: Shape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17280" y="6253200"/>
              <a:ext cx="153360" cy="204840"/>
            </a:xfrm>
            <a:custGeom>
              <a:avLst/>
              <a:gdLst>
                <a:gd name="textAreaLeft" fmla="*/ 0 w 153360"/>
                <a:gd name="textAreaRight" fmla="*/ 155160 w 153360"/>
                <a:gd name="textAreaTop" fmla="*/ 0 h 204840"/>
                <a:gd name="textAreaBottom" fmla="*/ 206640 h 204840"/>
                <a:gd name="GluePoint1X" fmla="*/ 112871 w 112871"/>
                <a:gd name="GluePoint1Y" fmla="*/ 0 h 112871"/>
                <a:gd name="GluePoint2X" fmla="*/ 0 w 112871"/>
                <a:gd name="GluePoint2Y" fmla="*/ 112871 h 1128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6680" tIns="45000" rIns="7668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28560" y="5586120"/>
            <a:ext cx="5193360" cy="80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5823720" y="5586120"/>
            <a:ext cx="2689920" cy="80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Merci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4" descr="Table with placemats"/>
          <p:cNvPicPr/>
          <p:nvPr/>
        </p:nvPicPr>
        <p:blipFill>
          <a:blip r:embed="rId1"/>
          <a:srcRect l="0" t="12385" r="0" b="1110"/>
          <a:stretch/>
        </p:blipFill>
        <p:spPr>
          <a:xfrm>
            <a:off x="0" y="0"/>
            <a:ext cx="9142200" cy="52779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29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840" y="5195160"/>
            <a:ext cx="9156600" cy="121680"/>
            <a:chOff x="-6840" y="5195160"/>
            <a:chExt cx="9156600" cy="121680"/>
          </a:xfrm>
        </p:grpSpPr>
        <p:sp>
          <p:nvSpPr>
            <p:cNvPr id="130" name="Rectangle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5400000">
              <a:off x="4508640" y="678960"/>
              <a:ext cx="121680" cy="9153720"/>
            </a:xfrm>
            <a:prstGeom prst="rect">
              <a:avLst/>
            </a:prstGeom>
            <a:gradFill rotWithShape="0">
              <a:gsLst>
                <a:gs pos="0">
                  <a:srgbClr val="4BACC6"/>
                </a:gs>
                <a:gs pos="100000">
                  <a:srgbClr val="C0504D"/>
                </a:gs>
              </a:gsLst>
              <a:lin ang="14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60840" tIns="45000" rIns="6084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1" name="Rectangle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6866640" y="3033720"/>
              <a:ext cx="121680" cy="4444200"/>
            </a:xfrm>
            <a:prstGeom prst="rect">
              <a:avLst/>
            </a:prstGeom>
            <a:gradFill rotWithShape="0">
              <a:gsLst>
                <a:gs pos="19000">
                  <a:srgbClr val="4BACC6">
                    <a:alpha val="0"/>
                  </a:srgbClr>
                </a:gs>
                <a:gs pos="100000">
                  <a:srgbClr val="93CDDD"/>
                </a:gs>
              </a:gsLst>
              <a:lin ang="168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60840" tIns="45000" rIns="6084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</TotalTime>
  <Application>LibreOffice/26.2.2.2$Windows_X86_64 LibreOffice_project/1f77d10d6938fd34972958f64b2bcfa54f8b1ba5</Application>
  <AppVersion>15.0000</AppVersion>
  <Words>452</Words>
  <Paragraphs>77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es-CO</dc:language>
  <cp:lastModifiedBy/>
  <dcterms:modified xsi:type="dcterms:W3CDTF">2026-04-29T10:10:42Z</dcterms:modified>
  <cp:revision>116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dde0556-1f76-452e-9e94-03158f226e4e_ActionId">
    <vt:lpwstr>d190568f-0732-498b-b0ba-79ea1979aeee</vt:lpwstr>
  </property>
  <property fmtid="{D5CDD505-2E9C-101B-9397-08002B2CF9AE}" pid="3" name="MSIP_Label_cdde0556-1f76-452e-9e94-03158f226e4e_ContentBits">
    <vt:lpwstr>0</vt:lpwstr>
  </property>
  <property fmtid="{D5CDD505-2E9C-101B-9397-08002B2CF9AE}" pid="4" name="MSIP_Label_cdde0556-1f76-452e-9e94-03158f226e4e_Enabled">
    <vt:lpwstr>true</vt:lpwstr>
  </property>
  <property fmtid="{D5CDD505-2E9C-101B-9397-08002B2CF9AE}" pid="5" name="MSIP_Label_cdde0556-1f76-452e-9e94-03158f226e4e_Method">
    <vt:lpwstr>Standard</vt:lpwstr>
  </property>
  <property fmtid="{D5CDD505-2E9C-101B-9397-08002B2CF9AE}" pid="6" name="MSIP_Label_cdde0556-1f76-452e-9e94-03158f226e4e_Name">
    <vt:lpwstr>Private</vt:lpwstr>
  </property>
  <property fmtid="{D5CDD505-2E9C-101B-9397-08002B2CF9AE}" pid="7" name="MSIP_Label_cdde0556-1f76-452e-9e94-03158f226e4e_SetDate">
    <vt:lpwstr>2026-03-31T01:12:25Z</vt:lpwstr>
  </property>
  <property fmtid="{D5CDD505-2E9C-101B-9397-08002B2CF9AE}" pid="8" name="MSIP_Label_cdde0556-1f76-452e-9e94-03158f226e4e_SiteId">
    <vt:lpwstr>7015a19d-0dbb-4c31-8709-253cf07f631f</vt:lpwstr>
  </property>
  <property fmtid="{D5CDD505-2E9C-101B-9397-08002B2CF9AE}" pid="9" name="MSIP_Label_cdde0556-1f76-452e-9e94-03158f226e4e_Tag">
    <vt:lpwstr>10, 3, 0, 1</vt:lpwstr>
  </property>
  <property fmtid="{D5CDD505-2E9C-101B-9397-08002B2CF9AE}" pid="10" name="Notes">
    <vt:i4>12</vt:i4>
  </property>
  <property fmtid="{D5CDD505-2E9C-101B-9397-08002B2CF9AE}" pid="11" name="PresentationFormat">
    <vt:lpwstr>Presentación en pantalla (4:3)</vt:lpwstr>
  </property>
  <property fmtid="{D5CDD505-2E9C-101B-9397-08002B2CF9AE}" pid="12" name="Slides">
    <vt:i4>13</vt:i4>
  </property>
</Properties>
</file>