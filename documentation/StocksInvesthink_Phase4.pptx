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1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desplazar la diapositiva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las notas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&lt;cabecera&gt;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D16490C-0CE5-4A28-B7A7-C4D618DCB052}" type="slidenum"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Bonjour, aujourd’hui je vais vous présenter notre projet qui s’appelle Stocks Investhink.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C’est une application web qui permet d’analyser des actions à partir de données historiques.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 projet est destiné principalement aux débutants en trading.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sldNum" idx="3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L’objectif est d’aider les utilisateurs à comprendre les tendances du marché.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utilise des indicateurs techniques simples pour faciliter l’analyse.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 but n’est pas de prédire avec certitude, mais d’aider à prendre des décisions.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sldNum" idx="3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Ce diagramme montre l’architecture globale du projet.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peut voir les différents composants et comment ils interagissent entre eux.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Cela permet de mieux comprendre la structure de l’application.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sldNum" idx="3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Ce diagramme montre l’architecture globale du projet.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peut voir les différents composants et comment ils interagissent entre eux.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Cela permet de mieux comprendre la structure de l’application.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sldNum" idx="4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L’application permet d’analyser des actions,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 consulter l’historique des prix,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d’utiliser des indicateurs techniques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et de générer des signaux de trading.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sldNum" idx="4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a utilisé l’architecture MVC, qui signifie Model, View et Controller.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Les Models représentent les données,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les Views affichent l’interface utilisateur,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et les Controllers gèrent la logique entre les deux.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Cela permet d’avoir un code bien organisé.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4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Dans notre projet, on a aussi utilisé des design patterns.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 Command Pattern permet d’encapsuler des actions comme des objets.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 Facade Pattern permet de simplifier l’accès à des opérations complexes.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Cela rend le code plus structuré et plus facile à maintenir.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sldNum" idx="4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 base de données contient plusieurs tables comme Stock, HistoricalPrice et Signal.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utilise Entity Framework pour gérer les données.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Les migrations permettent de mettre à jour la base facilement.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sldNum" idx="4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 conclusion, c’est un projet complet qui nous a permis de pratiquer le développement web.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a appris à structurer une application avec MVC,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à gérer une base de données,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et à utiliser des design patterns.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Il est possible d’améliorer le projet en ajoutant plus de fonctionnalités.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sldNum" idx="4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Merci pour votre attention.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Est-ce que vous avez des questions ?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4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40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40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A71C897-0538-4519-B18A-E83B9050F68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20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200" cy="395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064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0640" cy="395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7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8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94D6767-B8A2-48E8-8834-5F0FFB2D158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2C00B79-D1F5-49BB-AAA4-1E3342B7580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63060CD-B67B-4006-9171-DF5F366E7CB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080" cy="116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560" cy="5852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080" cy="469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AF7702C-86AD-4D56-B21A-F6E99901152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320" cy="56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ic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as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tl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yl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320" cy="80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E4208DB-3602-45D1-A959-DE29C065B73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320" cy="146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351F786-284E-4D56-A502-ECCFB8BBB94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5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D86326B-0E71-4F71-84B1-6F008DECBF0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320" cy="585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8840" cy="585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7218AB8-9F90-4290-BEC6-1E6F3B0F68D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0183673-8C5C-4160-992A-2527C72A93F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320" cy="1361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320" cy="1499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02234D0-76B5-49EA-A91B-A071BC13623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 l="-10996" r="-10996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320" cy="146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rgbClr val="FFFF00"/>
                </a:solidFill>
                <a:effectLst/>
                <a:uFillTx/>
                <a:latin typeface="Calibri"/>
                <a:ea typeface="Calibri"/>
              </a:rPr>
              <a:t>Stocks Investhink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399720" cy="175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s-ES" sz="2400" b="0" u="none" strike="noStrike">
                <a:solidFill>
                  <a:schemeClr val="lt2"/>
                </a:solidFill>
                <a:effectLst/>
                <a:uFillTx/>
                <a:latin typeface="Calibri"/>
                <a:ea typeface="Calibri"/>
              </a:rPr>
              <a:t>Sergio Acosta </a:t>
            </a:r>
            <a:endParaRPr lang="es-CO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s-ES" sz="2400" b="0" u="none" strike="noStrike">
                <a:solidFill>
                  <a:schemeClr val="lt2"/>
                </a:solidFill>
                <a:effectLst/>
                <a:uFillTx/>
                <a:latin typeface="Calibri"/>
                <a:ea typeface="Calibri"/>
              </a:rPr>
              <a:t>Seydina Mouhammad Sylla</a:t>
            </a:r>
            <a:endParaRPr lang="es-CO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s-ES" sz="2400" b="0" u="none" strike="noStrike">
                <a:solidFill>
                  <a:schemeClr val="lt2"/>
                </a:solidFill>
                <a:effectLst/>
                <a:uFillTx/>
                <a:latin typeface="Calibri"/>
                <a:ea typeface="Calibri"/>
              </a:rPr>
              <a:t>Chatib Ismail</a:t>
            </a:r>
            <a:endParaRPr lang="es-CO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5573520" y="180000"/>
            <a:ext cx="2525760" cy="518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85000" lnSpcReduction="9999"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Introduction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9" name="Picture 4" descr="Orange and blue numbers and graphs"/>
          <p:cNvPicPr/>
          <p:nvPr/>
        </p:nvPicPr>
        <p:blipFill>
          <a:blip r:embed="rId1"/>
          <a:srcRect l="20522" t="0" r="29976" b="0"/>
          <a:stretch/>
        </p:blipFill>
        <p:spPr>
          <a:xfrm>
            <a:off x="0" y="0"/>
            <a:ext cx="4319280" cy="68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Rectangl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956960" y="3270240"/>
            <a:ext cx="1629720" cy="5541480"/>
          </a:xfrm>
          <a:prstGeom prst="rect">
            <a:avLst/>
          </a:prstGeom>
          <a:gradFill rotWithShape="0">
            <a:gsLst>
              <a:gs pos="0">
                <a:srgbClr val="4BACC6"/>
              </a:gs>
              <a:gs pos="47000">
                <a:srgbClr val="C0504D">
                  <a:alpha val="0"/>
                </a:srgbClr>
              </a:gs>
            </a:gsLst>
            <a:lin ang="16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Rectangl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 rot="5400000">
            <a:off x="-2296440" y="2294640"/>
            <a:ext cx="6853320" cy="2261160"/>
          </a:xfrm>
          <a:prstGeom prst="rect">
            <a:avLst/>
          </a:prstGeom>
          <a:gradFill rotWithShape="0">
            <a:gsLst>
              <a:gs pos="0">
                <a:srgbClr val="4BACC6"/>
              </a:gs>
              <a:gs pos="47000">
                <a:srgbClr val="C0504D">
                  <a:alpha val="0"/>
                </a:srgbClr>
              </a:gs>
            </a:gsLst>
            <a:lin ang="2040000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Rectangl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347280" y="4426200"/>
            <a:ext cx="2195280" cy="2431800"/>
          </a:xfrm>
          <a:prstGeom prst="rect">
            <a:avLst/>
          </a:prstGeom>
          <a:gradFill rotWithShape="0">
            <a:gsLst>
              <a:gs pos="0">
                <a:srgbClr val="C0504D"/>
              </a:gs>
              <a:gs pos="51000">
                <a:srgbClr val="93CDDD">
                  <a:alpha val="0"/>
                </a:srgbClr>
              </a:gs>
            </a:gsLst>
            <a:path path="circle">
              <a:fillToRect l="0" t="0" r="100000" b="100000"/>
            </a:path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4500000" y="720000"/>
            <a:ext cx="4499280" cy="593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Application web ASP.NET Core MVC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Concevoir et développer un App qui permet d’analyser des données </a:t>
            </a: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historiques des Stocks de manière simple.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Realisée en suivant ce qu'on a apris pendant le cours </a:t>
            </a: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d'Implémentation d'un Sysème d'Information: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SDLC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Agile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POO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Organisation structurée du code et séparation des </a:t>
            </a: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responsabilités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Principes de Conception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Patrons de conception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Tests Unitaires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5040000" y="184320"/>
            <a:ext cx="3367800" cy="714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Objectif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5" name="Picture 4" descr="A wall painted with an arrow and a dartboard"/>
          <p:cNvPicPr/>
          <p:nvPr/>
        </p:nvPicPr>
        <p:blipFill>
          <a:blip r:embed="rId1"/>
          <a:srcRect l="52334" t="0" r="0" b="0"/>
          <a:stretch/>
        </p:blipFill>
        <p:spPr>
          <a:xfrm>
            <a:off x="0" y="0"/>
            <a:ext cx="4570920" cy="68569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76" name="Group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91440" cy="6856920"/>
            <a:chOff x="0" y="0"/>
            <a:chExt cx="91440" cy="6856920"/>
          </a:xfrm>
        </p:grpSpPr>
        <p:sp>
          <p:nvSpPr>
            <p:cNvPr id="77" name="Rectangle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91440" cy="6856920"/>
            </a:xfrm>
            <a:prstGeom prst="rect">
              <a:avLst/>
            </a:prstGeom>
            <a:gradFill rotWithShape="0">
              <a:gsLst>
                <a:gs pos="0">
                  <a:srgbClr val="C0504D"/>
                </a:gs>
                <a:gs pos="100000">
                  <a:srgbClr val="4BACC6"/>
                </a:gs>
              </a:gsLst>
              <a:lin ang="18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45720" tIns="45000" rIns="4572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8" name="Rectangle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4139640"/>
              <a:ext cx="91440" cy="2717280"/>
            </a:xfrm>
            <a:prstGeom prst="rect">
              <a:avLst/>
            </a:prstGeom>
            <a:gradFill rotWithShape="0">
              <a:gsLst>
                <a:gs pos="19000">
                  <a:srgbClr val="4BACC6">
                    <a:alpha val="0"/>
                  </a:srgbClr>
                </a:gs>
                <a:gs pos="100000">
                  <a:srgbClr val="93CDDD"/>
                </a:gs>
              </a:gsLst>
              <a:lin ang="6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45720" tIns="45000" rIns="4572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4680000" y="1080000"/>
            <a:ext cx="4139280" cy="557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CA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Permettre à un utilisateur connecté d’importer un fichier CSV avec des prix historiques d’un Stock 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CA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Calculer des indicateurs techniques comme le SMA, EMA et RSI 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CA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Générer des signaux éducatifs pour illustrer des situations potentielles d’achat ou de vente (pas des conseils d'achat ou de vente)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4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51600"/>
            <a:ext cx="9142920" cy="7354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17240" y="643320"/>
            <a:ext cx="8407080" cy="743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Diagramme Cas d’utilisation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2" name=""/>
          <p:cNvPicPr/>
          <p:nvPr/>
        </p:nvPicPr>
        <p:blipFill>
          <a:blip r:embed="rId1"/>
          <a:stretch/>
        </p:blipFill>
        <p:spPr>
          <a:xfrm>
            <a:off x="1800000" y="1643400"/>
            <a:ext cx="5399280" cy="4475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51600"/>
            <a:ext cx="9142920" cy="7354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17240" y="643320"/>
            <a:ext cx="8407080" cy="743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Diagramme de Classes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5" name=""/>
          <p:cNvPicPr/>
          <p:nvPr/>
        </p:nvPicPr>
        <p:blipFill>
          <a:blip r:embed="rId1"/>
          <a:stretch/>
        </p:blipFill>
        <p:spPr>
          <a:xfrm>
            <a:off x="0" y="1891800"/>
            <a:ext cx="9142920" cy="3867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6" name="Slide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920" cy="6856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 useBgFill="1">
        <p:nvSpPr>
          <p:cNvPr id="87" name="Rectangl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390720" cy="2284920"/>
          </a:xfrm>
          <a:prstGeom prst="rect">
            <a:avLst/>
          </a:prstGeom>
          <a:ln>
            <a:noFill/>
          </a:ln>
          <a:effectLst>
            <a:outerShdw algn="t" blurRad="596880" dir="7139329" dist="304556" rotWithShape="0" sx="90000" sy="9000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540000" y="170280"/>
            <a:ext cx="3484080" cy="90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3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Fonctionnalités</a:t>
            </a:r>
            <a:endParaRPr lang="en-US" sz="3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180000" y="900000"/>
            <a:ext cx="3875400" cy="5455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CA" sz="1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 **FR-1 :** Le système doit permettre d’obtenir des données historiques de prix d’actions à partir d’une source locale (.CSV).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CA" sz="1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 **FR-2 :** Le système doit analyser l’évolution des prix des actions dans le temps.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CA" sz="1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-**FR-3 :** Le système doit calculer des indicateurs techniques simples (SMA, EMA et RSI). 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CA" sz="1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 **FR-4 :** Le système doit générer des signaux indicatifs basés sur l’analyse technique, afin d’illustrer des situations potentielles d’achat ou de vente.  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0" name="Picture 4" descr="Magnifying glass showing decling performance"/>
          <p:cNvPicPr/>
          <p:nvPr/>
        </p:nvPicPr>
        <p:blipFill>
          <a:blip r:embed="rId1"/>
          <a:srcRect l="21166" t="0" r="34285" b="-3"/>
          <a:stretch/>
        </p:blipFill>
        <p:spPr>
          <a:xfrm>
            <a:off x="4572000" y="0"/>
            <a:ext cx="4575960" cy="6856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Flowchart: Document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8800" y="0"/>
            <a:ext cx="1500840" cy="1979640"/>
          </a:xfrm>
          <a:prstGeom prst="flowChartDocument">
            <a:avLst/>
          </a:prstGeom>
          <a:solidFill>
            <a:srgbClr val="4D59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118800" y="0"/>
            <a:ext cx="2129040" cy="162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Architecture MVC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3" name="PlaceHolder 4"/>
          <p:cNvSpPr/>
          <p:nvPr/>
        </p:nvSpPr>
        <p:spPr>
          <a:xfrm>
            <a:off x="1830600" y="180000"/>
            <a:ext cx="6269040" cy="10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Diagramme d’Activités</a:t>
            </a:r>
            <a:endParaRPr lang="es-CO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4" name=""/>
          <p:cNvPicPr/>
          <p:nvPr/>
        </p:nvPicPr>
        <p:blipFill>
          <a:blip r:embed="rId1"/>
          <a:stretch/>
        </p:blipFill>
        <p:spPr>
          <a:xfrm>
            <a:off x="720000" y="1080000"/>
            <a:ext cx="8315280" cy="5668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Flowchart: Document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8800" y="0"/>
            <a:ext cx="2435040" cy="3399480"/>
          </a:xfrm>
          <a:prstGeom prst="flowChartDocument">
            <a:avLst/>
          </a:prstGeom>
          <a:solidFill>
            <a:srgbClr val="428A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28560" y="171000"/>
            <a:ext cx="2129040" cy="237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Patrons de Conception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7" name="Imagen 5" descr="Texto&#10;&#10;El contenido generado por IA puede ser incorrecto."/>
          <p:cNvPicPr/>
          <p:nvPr/>
        </p:nvPicPr>
        <p:blipFill>
          <a:blip r:embed="rId1"/>
          <a:stretch/>
        </p:blipFill>
        <p:spPr>
          <a:xfrm>
            <a:off x="3645000" y="640080"/>
            <a:ext cx="4531680" cy="5577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51600"/>
            <a:ext cx="9142920" cy="7354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17240" y="643320"/>
            <a:ext cx="8407080" cy="743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Base de données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0" name="Imagen 6" descr="Tabla&#10;&#10;El contenido generado por IA puede ser incorrecto."/>
          <p:cNvPicPr/>
          <p:nvPr/>
        </p:nvPicPr>
        <p:blipFill>
          <a:blip r:embed="rId1"/>
          <a:stretch/>
        </p:blipFill>
        <p:spPr>
          <a:xfrm>
            <a:off x="236880" y="1857960"/>
            <a:ext cx="8607960" cy="4015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1" name="Rectangl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920" cy="6856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Rectangl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000000" cy="6856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13040" y="82800"/>
            <a:ext cx="9246960" cy="693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br>
              <a:rPr sz="3700"/>
            </a:br>
            <a:br>
              <a:rPr sz="3700"/>
            </a:br>
            <a:r>
              <a:rPr lang="en-CA" sz="37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Démonstration fonctionnelle </a:t>
            </a:r>
            <a:endParaRPr lang="en-US" sz="3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pSp>
        <p:nvGrpSpPr>
          <p:cNvPr id="104" name="Graphic 3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203040"/>
            <a:ext cx="1431720" cy="708480"/>
            <a:chOff x="0" y="203040"/>
            <a:chExt cx="1431720" cy="708480"/>
          </a:xfrm>
        </p:grpSpPr>
        <p:sp>
          <p:nvSpPr>
            <p:cNvPr id="105" name="Freeform: Shape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203040"/>
              <a:ext cx="1431720" cy="273600"/>
            </a:xfrm>
            <a:custGeom>
              <a:avLst/>
              <a:gdLst>
                <a:gd name="textAreaLeft" fmla="*/ 0 w 1431720"/>
                <a:gd name="textAreaRight" fmla="*/ 1432800 w 1431720"/>
                <a:gd name="textAreaTop" fmla="*/ 0 h 273600"/>
                <a:gd name="textAreaBottom" fmla="*/ 274680 h 273600"/>
                <a:gd name="GluePoint1X" fmla="*/ 1489414 w 1990951"/>
                <a:gd name="GluePoint1Y" fmla="*/ 286231 h 286230"/>
                <a:gd name="GluePoint2X" fmla="*/ 1243712 w 1990951"/>
                <a:gd name="GluePoint2Y" fmla="*/ 40528 h 286230"/>
                <a:gd name="GluePoint3X" fmla="*/ 995476 w 1990951"/>
                <a:gd name="GluePoint3Y" fmla="*/ 286231 h 286230"/>
                <a:gd name="GluePoint4X" fmla="*/ 749773 w 1990951"/>
                <a:gd name="GluePoint4Y" fmla="*/ 40528 h 286230"/>
                <a:gd name="GluePoint5X" fmla="*/ 504071 w 1990951"/>
                <a:gd name="GluePoint5Y" fmla="*/ 286231 h 286230"/>
                <a:gd name="GluePoint6X" fmla="*/ 255835 w 1990951"/>
                <a:gd name="GluePoint6Y" fmla="*/ 40528 h 286230"/>
                <a:gd name="GluePoint7X" fmla="*/ 20264 w 1990951"/>
                <a:gd name="GluePoint7Y" fmla="*/ 276099 h 286230"/>
                <a:gd name="GluePoint8X" fmla="*/ 0 w 1990951"/>
                <a:gd name="GluePoint8Y" fmla="*/ 255835 h 286230"/>
                <a:gd name="GluePoint9X" fmla="*/ 255835 w 1990951"/>
                <a:gd name="GluePoint9Y" fmla="*/ 0 h 286230"/>
                <a:gd name="GluePoint10X" fmla="*/ 504071 w 1990951"/>
                <a:gd name="GluePoint10Y" fmla="*/ 245703 h 286230"/>
                <a:gd name="GluePoint11X" fmla="*/ 749773 w 1990951"/>
                <a:gd name="GluePoint11Y" fmla="*/ 0 h 286230"/>
                <a:gd name="GluePoint12X" fmla="*/ 995476 w 1990951"/>
                <a:gd name="GluePoint12Y" fmla="*/ 245703 h 286230"/>
                <a:gd name="GluePoint13X" fmla="*/ 1243712 w 1990951"/>
                <a:gd name="GluePoint13Y" fmla="*/ 0 h 286230"/>
                <a:gd name="GluePoint14X" fmla="*/ 1489414 w 1990951"/>
                <a:gd name="GluePoint14Y" fmla="*/ 245703 h 286230"/>
                <a:gd name="GluePoint15X" fmla="*/ 1735117 w 1990951"/>
                <a:gd name="GluePoint15Y" fmla="*/ 0 h 286230"/>
                <a:gd name="GluePoint16X" fmla="*/ 1990952 w 1990951"/>
                <a:gd name="GluePoint16Y" fmla="*/ 255835 h 286230"/>
                <a:gd name="GluePoint17X" fmla="*/ 1973221 w 1990951"/>
                <a:gd name="GluePoint17Y" fmla="*/ 276099 h 286230"/>
                <a:gd name="GluePoint18X" fmla="*/ 1735117 w 1990951"/>
                <a:gd name="GluePoint18Y" fmla="*/ 40528 h 2862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solidFill>
              <a:schemeClr val="bg1"/>
            </a:solidFill>
            <a:ln w="2532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6" name="Freeform: Shape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637920"/>
              <a:ext cx="1431720" cy="273600"/>
            </a:xfrm>
            <a:custGeom>
              <a:avLst/>
              <a:gdLst>
                <a:gd name="textAreaLeft" fmla="*/ 0 w 1431720"/>
                <a:gd name="textAreaRight" fmla="*/ 1432800 w 1431720"/>
                <a:gd name="textAreaTop" fmla="*/ 0 h 273600"/>
                <a:gd name="textAreaBottom" fmla="*/ 274680 h 273600"/>
                <a:gd name="GluePoint1X" fmla="*/ 1489414 w 1990951"/>
                <a:gd name="GluePoint1Y" fmla="*/ 286231 h 286230"/>
                <a:gd name="GluePoint2X" fmla="*/ 1243712 w 1990951"/>
                <a:gd name="GluePoint2Y" fmla="*/ 40528 h 286230"/>
                <a:gd name="GluePoint3X" fmla="*/ 995476 w 1990951"/>
                <a:gd name="GluePoint3Y" fmla="*/ 286231 h 286230"/>
                <a:gd name="GluePoint4X" fmla="*/ 749773 w 1990951"/>
                <a:gd name="GluePoint4Y" fmla="*/ 40528 h 286230"/>
                <a:gd name="GluePoint5X" fmla="*/ 504071 w 1990951"/>
                <a:gd name="GluePoint5Y" fmla="*/ 286231 h 286230"/>
                <a:gd name="GluePoint6X" fmla="*/ 255835 w 1990951"/>
                <a:gd name="GluePoint6Y" fmla="*/ 40528 h 286230"/>
                <a:gd name="GluePoint7X" fmla="*/ 20264 w 1990951"/>
                <a:gd name="GluePoint7Y" fmla="*/ 276099 h 286230"/>
                <a:gd name="GluePoint8X" fmla="*/ 0 w 1990951"/>
                <a:gd name="GluePoint8Y" fmla="*/ 258368 h 286230"/>
                <a:gd name="GluePoint9X" fmla="*/ 255835 w 1990951"/>
                <a:gd name="GluePoint9Y" fmla="*/ 0 h 286230"/>
                <a:gd name="GluePoint10X" fmla="*/ 504071 w 1990951"/>
                <a:gd name="GluePoint10Y" fmla="*/ 248236 h 286230"/>
                <a:gd name="GluePoint11X" fmla="*/ 749773 w 1990951"/>
                <a:gd name="GluePoint11Y" fmla="*/ 0 h 286230"/>
                <a:gd name="GluePoint12X" fmla="*/ 995476 w 1990951"/>
                <a:gd name="GluePoint12Y" fmla="*/ 248236 h 286230"/>
                <a:gd name="GluePoint13X" fmla="*/ 1243712 w 1990951"/>
                <a:gd name="GluePoint13Y" fmla="*/ 0 h 286230"/>
                <a:gd name="GluePoint14X" fmla="*/ 1489414 w 1990951"/>
                <a:gd name="GluePoint14Y" fmla="*/ 248236 h 286230"/>
                <a:gd name="GluePoint15X" fmla="*/ 1735117 w 1990951"/>
                <a:gd name="GluePoint15Y" fmla="*/ 0 h 286230"/>
                <a:gd name="GluePoint16X" fmla="*/ 1990952 w 1990951"/>
                <a:gd name="GluePoint16Y" fmla="*/ 258368 h 286230"/>
                <a:gd name="GluePoint17X" fmla="*/ 1973221 w 1990951"/>
                <a:gd name="GluePoint17Y" fmla="*/ 276099 h 286230"/>
                <a:gd name="GluePoint18X" fmla="*/ 1735117 w 1990951"/>
                <a:gd name="GluePoint18Y" fmla="*/ 40528 h 2862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solidFill>
              <a:schemeClr val="bg1"/>
            </a:solidFill>
            <a:ln w="2532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07" name="Oval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560" y="4752360"/>
            <a:ext cx="272520" cy="36396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Oval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560" y="4752360"/>
            <a:ext cx="272520" cy="363960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109" name="Graphic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082320" y="5540040"/>
            <a:ext cx="730080" cy="974160"/>
            <a:chOff x="3082320" y="5540040"/>
            <a:chExt cx="730080" cy="974160"/>
          </a:xfrm>
        </p:grpSpPr>
        <p:sp>
          <p:nvSpPr>
            <p:cNvPr id="110" name="Freeform: Shape 2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123360" y="5594760"/>
              <a:ext cx="154080" cy="205920"/>
            </a:xfrm>
            <a:custGeom>
              <a:avLst/>
              <a:gdLst>
                <a:gd name="textAreaLeft" fmla="*/ 0 w 154080"/>
                <a:gd name="textAreaRight" fmla="*/ 155160 w 154080"/>
                <a:gd name="textAreaTop" fmla="*/ 0 h 205920"/>
                <a:gd name="textAreaBottom" fmla="*/ 207000 h 205920"/>
                <a:gd name="GluePoint1X" fmla="*/ 112967 w 112966"/>
                <a:gd name="GluePoint1Y" fmla="*/ 0 h 112966"/>
                <a:gd name="GluePoint2X" fmla="*/ 0 w 112966"/>
                <a:gd name="GluePoint2Y" fmla="*/ 112967 h 112966"/>
                <a:gd name="GluePoint3X" fmla="*/ 112967 w 112966"/>
                <a:gd name="GluePoint3Y" fmla="*/ 0 h 11296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7040" tIns="45000" rIns="7704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11" name="Freeform: Shape 2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084840" y="5543280"/>
              <a:ext cx="315360" cy="420840"/>
            </a:xfrm>
            <a:custGeom>
              <a:avLst/>
              <a:gdLst>
                <a:gd name="textAreaLeft" fmla="*/ 0 w 315360"/>
                <a:gd name="textAreaRight" fmla="*/ 316440 w 315360"/>
                <a:gd name="textAreaTop" fmla="*/ 0 h 420840"/>
                <a:gd name="textAreaBottom" fmla="*/ 421920 h 420840"/>
                <a:gd name="GluePoint1X" fmla="*/ 230314 w 230314"/>
                <a:gd name="GluePoint1Y" fmla="*/ 0 h 230314"/>
                <a:gd name="GluePoint2X" fmla="*/ 0 w 230314"/>
                <a:gd name="GluePoint2Y" fmla="*/ 230314 h 230314"/>
                <a:gd name="GluePoint3X" fmla="*/ 3524 w 230314"/>
                <a:gd name="GluePoint3Y" fmla="*/ 209550 h 230314"/>
                <a:gd name="GluePoint4X" fmla="*/ 209550 w 230314"/>
                <a:gd name="GluePoint4Y" fmla="*/ 3524 h 230314"/>
                <a:gd name="GluePoint5X" fmla="*/ 230314 w 230314"/>
                <a:gd name="GluePoint5Y" fmla="*/ 0 h 23031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12" name="Freeform: Shape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082320" y="5540040"/>
              <a:ext cx="403200" cy="537840"/>
            </a:xfrm>
            <a:custGeom>
              <a:avLst/>
              <a:gdLst>
                <a:gd name="textAreaLeft" fmla="*/ 0 w 403200"/>
                <a:gd name="textAreaRight" fmla="*/ 404280 w 403200"/>
                <a:gd name="textAreaTop" fmla="*/ 0 h 537840"/>
                <a:gd name="textAreaBottom" fmla="*/ 538920 h 537840"/>
                <a:gd name="GluePoint1X" fmla="*/ 294132 w 294131"/>
                <a:gd name="GluePoint1Y" fmla="*/ 1238 h 294131"/>
                <a:gd name="GluePoint2X" fmla="*/ 1238 w 294131"/>
                <a:gd name="GluePoint2Y" fmla="*/ 294132 h 294131"/>
                <a:gd name="GluePoint3X" fmla="*/ 0 w 294131"/>
                <a:gd name="GluePoint3Y" fmla="*/ 278225 h 294131"/>
                <a:gd name="GluePoint4X" fmla="*/ 278225 w 294131"/>
                <a:gd name="GluePoint4Y" fmla="*/ 0 h 294131"/>
                <a:gd name="GluePoint5X" fmla="*/ 294132 w 294131"/>
                <a:gd name="GluePoint5Y" fmla="*/ 1238 h 29413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13" name="Freeform: Shape 2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093120" y="5554080"/>
              <a:ext cx="462240" cy="617040"/>
            </a:xfrm>
            <a:custGeom>
              <a:avLst/>
              <a:gdLst>
                <a:gd name="textAreaLeft" fmla="*/ 0 w 462240"/>
                <a:gd name="textAreaRight" fmla="*/ 463320 w 462240"/>
                <a:gd name="textAreaTop" fmla="*/ 0 h 617040"/>
                <a:gd name="textAreaBottom" fmla="*/ 618120 h 617040"/>
                <a:gd name="GluePoint1X" fmla="*/ 337185 w 337184"/>
                <a:gd name="GluePoint1Y" fmla="*/ 3905 h 337280"/>
                <a:gd name="GluePoint2X" fmla="*/ 3810 w 337184"/>
                <a:gd name="GluePoint2Y" fmla="*/ 337280 h 337280"/>
                <a:gd name="GluePoint3X" fmla="*/ 0 w 337184"/>
                <a:gd name="GluePoint3Y" fmla="*/ 323850 h 337280"/>
                <a:gd name="GluePoint4X" fmla="*/ 323850 w 337184"/>
                <a:gd name="GluePoint4Y" fmla="*/ 0 h 337280"/>
                <a:gd name="GluePoint5X" fmla="*/ 337185 w 337184"/>
                <a:gd name="GluePoint5Y" fmla="*/ 3905 h 33728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14" name="Freeform: Shape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115080" y="5583600"/>
              <a:ext cx="500040" cy="667080"/>
            </a:xfrm>
            <a:custGeom>
              <a:avLst/>
              <a:gdLst>
                <a:gd name="textAreaLeft" fmla="*/ 0 w 500040"/>
                <a:gd name="textAreaRight" fmla="*/ 501120 w 500040"/>
                <a:gd name="textAreaTop" fmla="*/ 0 h 667080"/>
                <a:gd name="textAreaBottom" fmla="*/ 668160 h 667080"/>
                <a:gd name="GluePoint1X" fmla="*/ 364617 w 364617"/>
                <a:gd name="GluePoint1Y" fmla="*/ 5620 h 364617"/>
                <a:gd name="GluePoint2X" fmla="*/ 5620 w 364617"/>
                <a:gd name="GluePoint2Y" fmla="*/ 364617 h 364617"/>
                <a:gd name="GluePoint3X" fmla="*/ 0 w 364617"/>
                <a:gd name="GluePoint3Y" fmla="*/ 353187 h 364617"/>
                <a:gd name="GluePoint4X" fmla="*/ 353187 w 364617"/>
                <a:gd name="GluePoint4Y" fmla="*/ 0 h 364617"/>
                <a:gd name="GluePoint5X" fmla="*/ 364617 w 364617"/>
                <a:gd name="GluePoint5Y" fmla="*/ 5620 h 36461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15" name="Freeform: Shape 2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145320" y="5624280"/>
              <a:ext cx="521280" cy="695520"/>
            </a:xfrm>
            <a:custGeom>
              <a:avLst/>
              <a:gdLst>
                <a:gd name="textAreaLeft" fmla="*/ 0 w 521280"/>
                <a:gd name="textAreaRight" fmla="*/ 522360 w 521280"/>
                <a:gd name="textAreaTop" fmla="*/ 0 h 695520"/>
                <a:gd name="textAreaBottom" fmla="*/ 696600 h 695520"/>
                <a:gd name="GluePoint1X" fmla="*/ 380238 w 380238"/>
                <a:gd name="GluePoint1Y" fmla="*/ 7239 h 380238"/>
                <a:gd name="GluePoint2X" fmla="*/ 7239 w 380238"/>
                <a:gd name="GluePoint2Y" fmla="*/ 380238 h 380238"/>
                <a:gd name="GluePoint3X" fmla="*/ 0 w 380238"/>
                <a:gd name="GluePoint3Y" fmla="*/ 370713 h 380238"/>
                <a:gd name="GluePoint4X" fmla="*/ 370237 w 380238"/>
                <a:gd name="GluePoint4Y" fmla="*/ 0 h 380238"/>
                <a:gd name="GluePoint5X" fmla="*/ 380238 w 380238"/>
                <a:gd name="GluePoint5Y" fmla="*/ 7239 h 38023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16" name="Freeform: Shape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183120" y="5674680"/>
              <a:ext cx="528120" cy="704520"/>
            </a:xfrm>
            <a:custGeom>
              <a:avLst/>
              <a:gdLst>
                <a:gd name="textAreaLeft" fmla="*/ 0 w 528120"/>
                <a:gd name="textAreaRight" fmla="*/ 529200 w 528120"/>
                <a:gd name="textAreaTop" fmla="*/ 0 h 704520"/>
                <a:gd name="textAreaBottom" fmla="*/ 705600 h 704520"/>
                <a:gd name="GluePoint1X" fmla="*/ 380905 w 385191"/>
                <a:gd name="GluePoint1Y" fmla="*/ 4286 h 385191"/>
                <a:gd name="GluePoint2X" fmla="*/ 385191 w 385191"/>
                <a:gd name="GluePoint2Y" fmla="*/ 8573 h 385191"/>
                <a:gd name="GluePoint3X" fmla="*/ 8573 w 385191"/>
                <a:gd name="GluePoint3Y" fmla="*/ 385191 h 385191"/>
                <a:gd name="GluePoint4X" fmla="*/ 4286 w 385191"/>
                <a:gd name="GluePoint4Y" fmla="*/ 380905 h 385191"/>
                <a:gd name="GluePoint5X" fmla="*/ 0 w 385191"/>
                <a:gd name="GluePoint5Y" fmla="*/ 376523 h 385191"/>
                <a:gd name="GluePoint6X" fmla="*/ 376523 w 385191"/>
                <a:gd name="GluePoint6Y" fmla="*/ 0 h 385191"/>
                <a:gd name="GluePoint7X" fmla="*/ 380905 w 385191"/>
                <a:gd name="GluePoint7Y" fmla="*/ 4286 h 38519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17" name="Freeform: Shape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28480" y="5734080"/>
              <a:ext cx="520920" cy="695520"/>
            </a:xfrm>
            <a:custGeom>
              <a:avLst/>
              <a:gdLst>
                <a:gd name="textAreaLeft" fmla="*/ 0 w 520920"/>
                <a:gd name="textAreaRight" fmla="*/ 522000 w 520920"/>
                <a:gd name="textAreaTop" fmla="*/ 0 h 695520"/>
                <a:gd name="textAreaBottom" fmla="*/ 696600 h 695520"/>
                <a:gd name="GluePoint1X" fmla="*/ 372428 w 379761"/>
                <a:gd name="GluePoint1Y" fmla="*/ 0 h 380237"/>
                <a:gd name="GluePoint2X" fmla="*/ 379762 w 379761"/>
                <a:gd name="GluePoint2Y" fmla="*/ 9525 h 380237"/>
                <a:gd name="GluePoint3X" fmla="*/ 9525 w 379761"/>
                <a:gd name="GluePoint3Y" fmla="*/ 380238 h 380237"/>
                <a:gd name="GluePoint4X" fmla="*/ 0 w 379761"/>
                <a:gd name="GluePoint4Y" fmla="*/ 372904 h 38023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18" name="Freeform: Shape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79600" y="5802840"/>
              <a:ext cx="500040" cy="667440"/>
            </a:xfrm>
            <a:custGeom>
              <a:avLst/>
              <a:gdLst>
                <a:gd name="textAreaLeft" fmla="*/ 0 w 500040"/>
                <a:gd name="textAreaRight" fmla="*/ 501120 w 500040"/>
                <a:gd name="textAreaTop" fmla="*/ 0 h 667440"/>
                <a:gd name="textAreaBottom" fmla="*/ 668520 h 667440"/>
                <a:gd name="GluePoint1X" fmla="*/ 359188 w 364807"/>
                <a:gd name="GluePoint1Y" fmla="*/ 0 h 364807"/>
                <a:gd name="GluePoint2X" fmla="*/ 364808 w 364807"/>
                <a:gd name="GluePoint2Y" fmla="*/ 11621 h 364807"/>
                <a:gd name="GluePoint3X" fmla="*/ 11621 w 364807"/>
                <a:gd name="GluePoint3Y" fmla="*/ 364808 h 364807"/>
                <a:gd name="GluePoint4X" fmla="*/ 0 w 364807"/>
                <a:gd name="GluePoint4Y" fmla="*/ 359188 h 36480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19" name="Freeform: Shape 3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339360" y="5882760"/>
              <a:ext cx="462240" cy="617040"/>
            </a:xfrm>
            <a:custGeom>
              <a:avLst/>
              <a:gdLst>
                <a:gd name="textAreaLeft" fmla="*/ 0 w 462240"/>
                <a:gd name="textAreaRight" fmla="*/ 463320 w 462240"/>
                <a:gd name="textAreaTop" fmla="*/ 0 h 617040"/>
                <a:gd name="textAreaBottom" fmla="*/ 618120 h 617040"/>
                <a:gd name="GluePoint1X" fmla="*/ 333470 w 337280"/>
                <a:gd name="GluePoint1Y" fmla="*/ 0 h 337280"/>
                <a:gd name="GluePoint2X" fmla="*/ 337280 w 337280"/>
                <a:gd name="GluePoint2Y" fmla="*/ 13430 h 337280"/>
                <a:gd name="GluePoint3X" fmla="*/ 13430 w 337280"/>
                <a:gd name="GluePoint3Y" fmla="*/ 337280 h 337280"/>
                <a:gd name="GluePoint4X" fmla="*/ 0 w 337280"/>
                <a:gd name="GluePoint4Y" fmla="*/ 333470 h 33728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0" name="Freeform: Shape 3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409200" y="5976360"/>
              <a:ext cx="403200" cy="537840"/>
            </a:xfrm>
            <a:custGeom>
              <a:avLst/>
              <a:gdLst>
                <a:gd name="textAreaLeft" fmla="*/ 0 w 403200"/>
                <a:gd name="textAreaRight" fmla="*/ 404280 w 403200"/>
                <a:gd name="textAreaTop" fmla="*/ 0 h 537840"/>
                <a:gd name="textAreaBottom" fmla="*/ 538920 h 537840"/>
                <a:gd name="GluePoint1X" fmla="*/ 292989 w 294227"/>
                <a:gd name="GluePoint1Y" fmla="*/ 0 h 294132"/>
                <a:gd name="GluePoint2X" fmla="*/ 294227 w 294227"/>
                <a:gd name="GluePoint2Y" fmla="*/ 15907 h 294132"/>
                <a:gd name="GluePoint3X" fmla="*/ 15907 w 294227"/>
                <a:gd name="GluePoint3Y" fmla="*/ 294132 h 294132"/>
                <a:gd name="GluePoint4X" fmla="*/ 0 w 294227"/>
                <a:gd name="GluePoint4Y" fmla="*/ 292894 h 29413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1" name="Freeform: Shape 3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494520" y="6089760"/>
              <a:ext cx="315360" cy="420840"/>
            </a:xfrm>
            <a:custGeom>
              <a:avLst/>
              <a:gdLst>
                <a:gd name="textAreaLeft" fmla="*/ 0 w 315360"/>
                <a:gd name="textAreaRight" fmla="*/ 316440 w 315360"/>
                <a:gd name="textAreaTop" fmla="*/ 0 h 420840"/>
                <a:gd name="textAreaBottom" fmla="*/ 421920 h 420840"/>
                <a:gd name="GluePoint1X" fmla="*/ 230315 w 230314"/>
                <a:gd name="GluePoint1Y" fmla="*/ 0 h 230314"/>
                <a:gd name="GluePoint2X" fmla="*/ 226886 w 230314"/>
                <a:gd name="GluePoint2Y" fmla="*/ 20574 h 230314"/>
                <a:gd name="GluePoint3X" fmla="*/ 20669 w 230314"/>
                <a:gd name="GluePoint3Y" fmla="*/ 226790 h 230314"/>
                <a:gd name="GluePoint4X" fmla="*/ 0 w 230314"/>
                <a:gd name="GluePoint4Y" fmla="*/ 230315 h 23031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2" name="Freeform: Shape 3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617280" y="6253200"/>
              <a:ext cx="154080" cy="205560"/>
            </a:xfrm>
            <a:custGeom>
              <a:avLst/>
              <a:gdLst>
                <a:gd name="textAreaLeft" fmla="*/ 0 w 154080"/>
                <a:gd name="textAreaRight" fmla="*/ 155160 w 154080"/>
                <a:gd name="textAreaTop" fmla="*/ 0 h 205560"/>
                <a:gd name="textAreaBottom" fmla="*/ 206640 h 205560"/>
                <a:gd name="GluePoint1X" fmla="*/ 112871 w 112871"/>
                <a:gd name="GluePoint1Y" fmla="*/ 0 h 112871"/>
                <a:gd name="GluePoint2X" fmla="*/ 0 w 112871"/>
                <a:gd name="GluePoint2Y" fmla="*/ 112871 h 11287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7040" tIns="45000" rIns="7704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628560" y="5586120"/>
            <a:ext cx="5194080" cy="80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5823720" y="5586120"/>
            <a:ext cx="2690640" cy="80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Merci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25" name="Picture 4" descr="Table with placemats"/>
          <p:cNvPicPr/>
          <p:nvPr/>
        </p:nvPicPr>
        <p:blipFill>
          <a:blip r:embed="rId1"/>
          <a:srcRect l="0" t="12385" r="0" b="1110"/>
          <a:stretch/>
        </p:blipFill>
        <p:spPr>
          <a:xfrm>
            <a:off x="0" y="0"/>
            <a:ext cx="9142920" cy="52786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26" name="Group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5400" y="5194440"/>
            <a:ext cx="9155880" cy="122400"/>
            <a:chOff x="-5400" y="5194440"/>
            <a:chExt cx="9155880" cy="122400"/>
          </a:xfrm>
        </p:grpSpPr>
        <p:sp>
          <p:nvSpPr>
            <p:cNvPr id="127" name="Rectangle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rot="5400000">
              <a:off x="4510080" y="678240"/>
              <a:ext cx="122400" cy="9154440"/>
            </a:xfrm>
            <a:prstGeom prst="rect">
              <a:avLst/>
            </a:prstGeom>
            <a:gradFill rotWithShape="0">
              <a:gsLst>
                <a:gs pos="0">
                  <a:srgbClr val="4BACC6"/>
                </a:gs>
                <a:gs pos="100000">
                  <a:srgbClr val="C0504D"/>
                </a:gs>
              </a:gsLst>
              <a:lin ang="144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61200" tIns="45000" rIns="612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8" name="Rectangle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>
              <a:off x="6866640" y="3033000"/>
              <a:ext cx="122400" cy="4444920"/>
            </a:xfrm>
            <a:prstGeom prst="rect">
              <a:avLst/>
            </a:prstGeom>
            <a:gradFill rotWithShape="0">
              <a:gsLst>
                <a:gs pos="19000">
                  <a:srgbClr val="4BACC6">
                    <a:alpha val="0"/>
                  </a:srgbClr>
                </a:gs>
                <a:gs pos="100000">
                  <a:srgbClr val="93CDDD"/>
                </a:gs>
              </a:gsLst>
              <a:lin ang="168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61200" tIns="45000" rIns="612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</TotalTime>
  <Application>LibreOffice/26.2.2.2$Windows_X86_64 LibreOffice_project/1f77d10d6938fd34972958f64b2bcfa54f8b1ba5</Application>
  <AppVersion>15.0000</AppVersion>
  <Words>452</Words>
  <Paragraphs>77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es-CO</dc:language>
  <cp:lastModifiedBy/>
  <dcterms:modified xsi:type="dcterms:W3CDTF">2026-04-21T21:11:35Z</dcterms:modified>
  <cp:revision>114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dde0556-1f76-452e-9e94-03158f226e4e_ActionId">
    <vt:lpwstr>d190568f-0732-498b-b0ba-79ea1979aeee</vt:lpwstr>
  </property>
  <property fmtid="{D5CDD505-2E9C-101B-9397-08002B2CF9AE}" pid="3" name="MSIP_Label_cdde0556-1f76-452e-9e94-03158f226e4e_ContentBits">
    <vt:lpwstr>0</vt:lpwstr>
  </property>
  <property fmtid="{D5CDD505-2E9C-101B-9397-08002B2CF9AE}" pid="4" name="MSIP_Label_cdde0556-1f76-452e-9e94-03158f226e4e_Enabled">
    <vt:lpwstr>true</vt:lpwstr>
  </property>
  <property fmtid="{D5CDD505-2E9C-101B-9397-08002B2CF9AE}" pid="5" name="MSIP_Label_cdde0556-1f76-452e-9e94-03158f226e4e_Method">
    <vt:lpwstr>Standard</vt:lpwstr>
  </property>
  <property fmtid="{D5CDD505-2E9C-101B-9397-08002B2CF9AE}" pid="6" name="MSIP_Label_cdde0556-1f76-452e-9e94-03158f226e4e_Name">
    <vt:lpwstr>Private</vt:lpwstr>
  </property>
  <property fmtid="{D5CDD505-2E9C-101B-9397-08002B2CF9AE}" pid="7" name="MSIP_Label_cdde0556-1f76-452e-9e94-03158f226e4e_SetDate">
    <vt:lpwstr>2026-03-31T01:12:25Z</vt:lpwstr>
  </property>
  <property fmtid="{D5CDD505-2E9C-101B-9397-08002B2CF9AE}" pid="8" name="MSIP_Label_cdde0556-1f76-452e-9e94-03158f226e4e_SiteId">
    <vt:lpwstr>7015a19d-0dbb-4c31-8709-253cf07f631f</vt:lpwstr>
  </property>
  <property fmtid="{D5CDD505-2E9C-101B-9397-08002B2CF9AE}" pid="9" name="MSIP_Label_cdde0556-1f76-452e-9e94-03158f226e4e_Tag">
    <vt:lpwstr>10, 3, 0, 1</vt:lpwstr>
  </property>
  <property fmtid="{D5CDD505-2E9C-101B-9397-08002B2CF9AE}" pid="10" name="Notes">
    <vt:i4>12</vt:i4>
  </property>
  <property fmtid="{D5CDD505-2E9C-101B-9397-08002B2CF9AE}" pid="11" name="PresentationFormat">
    <vt:lpwstr>Presentación en pantalla (4:3)</vt:lpwstr>
  </property>
  <property fmtid="{D5CDD505-2E9C-101B-9397-08002B2CF9AE}" pid="12" name="Slides">
    <vt:i4>13</vt:i4>
  </property>
</Properties>
</file>